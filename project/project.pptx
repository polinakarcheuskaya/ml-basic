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1" r:id="rId2"/>
  </p:sldMasterIdLst>
  <p:notesMasterIdLst>
    <p:notesMasterId r:id="rId15"/>
  </p:notesMasterIdLst>
  <p:sldIdLst>
    <p:sldId id="256" r:id="rId3"/>
    <p:sldId id="258" r:id="rId4"/>
    <p:sldId id="260" r:id="rId5"/>
    <p:sldId id="261" r:id="rId6"/>
    <p:sldId id="262" r:id="rId7"/>
    <p:sldId id="299" r:id="rId8"/>
    <p:sldId id="300" r:id="rId9"/>
    <p:sldId id="303" r:id="rId10"/>
    <p:sldId id="304" r:id="rId11"/>
    <p:sldId id="305" r:id="rId12"/>
    <p:sldId id="302" r:id="rId13"/>
    <p:sldId id="265" r:id="rId14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Medium" panose="020F050202020403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122108-2A36-42DF-A35F-760401D71D52}">
  <a:tblStyle styleId="{89122108-2A36-42DF-A35F-760401D71D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789"/>
  </p:normalViewPr>
  <p:slideViewPr>
    <p:cSldViewPr snapToGrid="0">
      <p:cViewPr varScale="1">
        <p:scale>
          <a:sx n="155" d="100"/>
          <a:sy n="155" d="100"/>
        </p:scale>
        <p:origin x="192" y="192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695644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1522144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132377" y="-2655946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599648" y="1524291"/>
            <a:ext cx="75843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ru-BY" sz="4000" dirty="0">
                <a:solidFill>
                  <a:schemeClr val="bg1"/>
                </a:solidFill>
              </a:rPr>
              <a:t>Прогноз согласия клиента на срочный вклад</a:t>
            </a: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794610" y="4162057"/>
            <a:ext cx="2407800" cy="378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90000"/>
              </a:lnSpc>
            </a:pPr>
            <a:r>
              <a:rPr lang="ru-BY" sz="1400" b="1" i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Machine Learning. Basic</a:t>
            </a:r>
            <a:endParaRPr sz="100" dirty="0">
              <a:solidFill>
                <a:schemeClr val="bg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ru-RU" sz="3000" dirty="0"/>
              <a:t>О себе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975675" y="1130319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Полина Корчевская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975674" y="1730623"/>
            <a:ext cx="4667775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ru-BY" sz="1600" dirty="0"/>
              <a:t>Java-разработчик </a:t>
            </a:r>
            <a:r>
              <a:rPr lang="ru" sz="1600" dirty="0">
                <a:latin typeface="Roboto Medium"/>
                <a:ea typeface="Roboto Medium"/>
                <a:cs typeface="Roboto Medium"/>
                <a:sym typeface="Roboto Medium"/>
              </a:rPr>
              <a:t>в </a:t>
            </a:r>
            <a:r>
              <a:rPr lang="en-US" sz="1600" dirty="0">
                <a:latin typeface="Roboto Medium"/>
                <a:ea typeface="Roboto Medium"/>
                <a:cs typeface="Roboto Medium"/>
                <a:sym typeface="Roboto Medium"/>
              </a:rPr>
              <a:t>BSB </a:t>
            </a:r>
            <a:r>
              <a:rPr lang="ru" sz="1600" dirty="0">
                <a:latin typeface="Roboto Medium"/>
                <a:ea typeface="Roboto Medium"/>
                <a:cs typeface="Roboto Medium"/>
                <a:sym typeface="Roboto Medium"/>
              </a:rPr>
              <a:t>банке</a:t>
            </a:r>
            <a:r>
              <a:rPr lang="ru-BY" sz="1600" dirty="0"/>
              <a:t> с опытом более 4 лет. Интересуюсь анализом данных и машинным обучением, стремлюсь расширить профессиональные компетенции и применять ML для решения практических задач.</a:t>
            </a:r>
            <a:endParaRPr sz="16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C7E504-8B75-CEE2-EDE7-35C5CBACA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31" y="1130319"/>
            <a:ext cx="3193200" cy="319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3202765980"/>
              </p:ext>
            </p:extLst>
          </p:nvPr>
        </p:nvGraphicFramePr>
        <p:xfrm>
          <a:off x="560499" y="2370281"/>
          <a:ext cx="7865043" cy="2609066"/>
        </p:xfrm>
        <a:graphic>
          <a:graphicData uri="http://schemas.openxmlformats.org/drawingml/2006/table">
            <a:tbl>
              <a:tblPr>
                <a:noFill/>
                <a:tableStyleId>{89122108-2A36-42DF-A35F-760401D71D52}</a:tableStyleId>
              </a:tblPr>
              <a:tblGrid>
                <a:gridCol w="531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3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BY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Провести исследовательский анализ данных – сделать предобработку и очистку данных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BY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Визуализировать данные (распределения, конверсии по категориям, корреляции, сравнения по классам) и оформить результаты анализа в наглядном виде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BY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Обучить и сравнить модели классификации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BY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Проконтролировать переобучение и оценить качество по метрикам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560500" y="1064081"/>
            <a:ext cx="7865043" cy="11340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lvl="0"/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BY" dirty="0"/>
              <a:t>Построить модель, которая по данным о клиенте и параметрах телефонной маркетинговой кампании предсказывает вероятность согласия на открытие срочного вклада, и на основе анализа данных сформулировать практические выводы для банка.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>
                <a:latin typeface="+mj-lt"/>
              </a:rPr>
              <a:t>Изначальные</a:t>
            </a:r>
            <a:r>
              <a:rPr lang="ru-RU" sz="3000" dirty="0"/>
              <a:t> данные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162435877"/>
              </p:ext>
            </p:extLst>
          </p:nvPr>
        </p:nvGraphicFramePr>
        <p:xfrm>
          <a:off x="307904" y="1488956"/>
          <a:ext cx="5341781" cy="4537909"/>
        </p:xfrm>
        <a:graphic>
          <a:graphicData uri="http://schemas.openxmlformats.org/drawingml/2006/table">
            <a:tbl>
              <a:tblPr>
                <a:noFill/>
                <a:tableStyleId>{89122108-2A36-42DF-A35F-760401D71D52}</a:tableStyleId>
              </a:tblPr>
              <a:tblGrid>
                <a:gridCol w="361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0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683">
                <a:tc>
                  <a:txBody>
                    <a:bodyPr/>
                    <a:lstStyle/>
                    <a:p>
                      <a:pPr algn="l">
                        <a:lnSpc>
                          <a:spcPts val="1350"/>
                        </a:lnSpc>
                        <a:buNone/>
                      </a:pPr>
                      <a:endParaRPr lang="ru-BY" sz="1200" b="0" dirty="0">
                        <a:solidFill>
                          <a:srgbClr val="E4E4E4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BY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1. age - возраст клиента в годах</a:t>
                      </a:r>
                    </a:p>
                    <a:p>
                      <a:pPr algn="l"/>
                      <a:r>
                        <a:rPr lang="ru-BY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2. job - род занятий</a:t>
                      </a:r>
                    </a:p>
                    <a:p>
                      <a:pPr algn="l"/>
                      <a:r>
                        <a:rPr lang="ru-BY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3. marital - семейное положение</a:t>
                      </a:r>
                    </a:p>
                    <a:p>
                      <a:pPr algn="l"/>
                      <a:r>
                        <a:rPr lang="ru-BY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4. education - образование</a:t>
                      </a:r>
                    </a:p>
                    <a:p>
                      <a:pPr algn="l"/>
                      <a:r>
                        <a:rPr lang="ru-BY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5. default - наличие просрочки по кредиту</a:t>
                      </a:r>
                    </a:p>
                    <a:p>
                      <a:pPr algn="l"/>
                      <a:r>
                        <a:rPr lang="ru-BY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6. balance - годовой баланс на счёте в евро</a:t>
                      </a:r>
                    </a:p>
                    <a:p>
                      <a:pPr algn="l"/>
                      <a:r>
                        <a:rPr lang="ru-BY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7. housing - наличие ипотеки</a:t>
                      </a:r>
                    </a:p>
                    <a:p>
                      <a:pPr algn="l"/>
                      <a:r>
                        <a:rPr lang="ru-BY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8. loan - наличие персонального кредита</a:t>
                      </a:r>
                    </a:p>
                    <a:p>
                      <a:pPr algn="l"/>
                      <a:r>
                        <a:rPr lang="ru-BY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9. contact - канал связи</a:t>
                      </a:r>
                    </a:p>
                    <a:p>
                      <a:pPr algn="l"/>
                      <a:r>
                        <a:rPr lang="ru-BY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10. day - день месяца последнего контакта</a:t>
                      </a:r>
                    </a:p>
                    <a:p>
                      <a:pPr algn="l"/>
                      <a:r>
                        <a:rPr lang="ru-BY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11. month - месяц последнего контакта</a:t>
                      </a:r>
                    </a:p>
                    <a:p>
                      <a:pPr algn="l"/>
                      <a:r>
                        <a:rPr lang="ru-BY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12. duration - длительность последнего звонка в секундах</a:t>
                      </a:r>
                    </a:p>
                    <a:p>
                      <a:pPr algn="l"/>
                      <a:r>
                        <a:rPr lang="ru-BY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13. campaign - число контактов с клиентом в текущей кампании</a:t>
                      </a:r>
                    </a:p>
                    <a:p>
                      <a:pPr algn="l"/>
                      <a:r>
                        <a:rPr lang="ru-BY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14. pdays - число дней с момента прошлого контакта</a:t>
                      </a:r>
                    </a:p>
                    <a:p>
                      <a:pPr algn="l"/>
                      <a:r>
                        <a:rPr lang="ru-BY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15. previous - число контактов с клиентом до текущей кампании</a:t>
                      </a:r>
                    </a:p>
                    <a:p>
                      <a:pPr algn="l"/>
                      <a:r>
                        <a:rPr lang="ru-BY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16. poutcome - исход предыдущей кампании</a:t>
                      </a:r>
                    </a:p>
                    <a:p>
                      <a:pPr algn="l"/>
                      <a:r>
                        <a:rPr lang="ru-BY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17. </a:t>
                      </a: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y – </a:t>
                      </a:r>
                      <a:r>
                        <a:rPr lang="ru-RU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/>
                          <a:cs typeface="Arial"/>
                          <a:sym typeface="Arial"/>
                        </a:rPr>
                        <a:t>итоговое решение клиента о подключении срочного вклада</a:t>
                      </a:r>
                      <a:endParaRPr lang="ru-BY" sz="1200" b="0" i="0" u="none" strike="noStrike" cap="none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515">
                <a:tc>
                  <a:txBody>
                    <a:bodyPr/>
                    <a:lstStyle/>
                    <a:p>
                      <a:pPr algn="l">
                        <a:lnSpc>
                          <a:spcPts val="1350"/>
                        </a:lnSpc>
                        <a:buNone/>
                      </a:pPr>
                      <a:endParaRPr lang="ru-BY" sz="800" b="0">
                        <a:solidFill>
                          <a:srgbClr val="E4E4E4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50"/>
                        </a:lnSpc>
                        <a:buNone/>
                      </a:pPr>
                      <a:endParaRPr lang="ru-BY" sz="800" b="0" dirty="0">
                        <a:solidFill>
                          <a:srgbClr val="E4E4E4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515">
                <a:tc>
                  <a:txBody>
                    <a:bodyPr/>
                    <a:lstStyle/>
                    <a:p>
                      <a:pPr algn="l">
                        <a:lnSpc>
                          <a:spcPts val="1350"/>
                        </a:lnSpc>
                        <a:buNone/>
                      </a:pPr>
                      <a:endParaRPr lang="ru-BY" sz="800" b="0">
                        <a:solidFill>
                          <a:srgbClr val="E4E4E4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50"/>
                        </a:lnSpc>
                        <a:buNone/>
                      </a:pPr>
                      <a:endParaRPr lang="ru-BY" sz="800" b="0" dirty="0">
                        <a:solidFill>
                          <a:srgbClr val="E4E4E4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515">
                <a:tc>
                  <a:txBody>
                    <a:bodyPr/>
                    <a:lstStyle/>
                    <a:p>
                      <a:pPr algn="l">
                        <a:lnSpc>
                          <a:spcPts val="1350"/>
                        </a:lnSpc>
                        <a:buNone/>
                      </a:pPr>
                      <a:endParaRPr lang="ru-BY" sz="800" b="0">
                        <a:solidFill>
                          <a:srgbClr val="E4E4E4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350"/>
                        </a:lnSpc>
                        <a:buNone/>
                      </a:pPr>
                      <a:endParaRPr lang="ru-BY" sz="800" b="0" dirty="0">
                        <a:solidFill>
                          <a:srgbClr val="E4E4E4"/>
                        </a:solidFill>
                        <a:effectLst/>
                        <a:latin typeface="Menlo" panose="020B0609030804020204" pitchFamily="49" charset="0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2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80D6CAD-92C0-3AC6-9B0F-2B0A5A5232F7}"/>
              </a:ext>
            </a:extLst>
          </p:cNvPr>
          <p:cNvSpPr txBox="1"/>
          <p:nvPr/>
        </p:nvSpPr>
        <p:spPr>
          <a:xfrm>
            <a:off x="500550" y="878674"/>
            <a:ext cx="75439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BY" sz="1600" b="1" i="0" dirty="0">
                <a:effectLst/>
                <a:latin typeface="+mj-lt"/>
              </a:rPr>
              <a:t>Источник:</a:t>
            </a:r>
            <a:r>
              <a:rPr lang="ru-BY" sz="1600" b="0" i="0" dirty="0">
                <a:effectLst/>
                <a:latin typeface="+mj-lt"/>
              </a:rPr>
              <a:t> телефонные маркетинговые кампании португальского банка</a:t>
            </a:r>
            <a:endParaRPr lang="ru-BY" sz="32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02C552-586D-7600-F7F3-2F6CCEA7BBB8}"/>
              </a:ext>
            </a:extLst>
          </p:cNvPr>
          <p:cNvSpPr txBox="1"/>
          <p:nvPr/>
        </p:nvSpPr>
        <p:spPr>
          <a:xfrm>
            <a:off x="5470178" y="1986974"/>
            <a:ext cx="355097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BY" b="1" dirty="0"/>
              <a:t>Общий </a:t>
            </a:r>
            <a:r>
              <a:rPr lang="ru-BY" b="1" dirty="0">
                <a:latin typeface="+mn-lt"/>
              </a:rPr>
              <a:t>объем</a:t>
            </a:r>
            <a:r>
              <a:rPr lang="ru-BY" b="1" dirty="0"/>
              <a:t> данных: </a:t>
            </a:r>
            <a:r>
              <a:rPr lang="ru-BY" dirty="0"/>
              <a:t>45 211 записей</a:t>
            </a:r>
          </a:p>
          <a:p>
            <a:r>
              <a:rPr lang="ru-BY" b="1" dirty="0"/>
              <a:t>Период:</a:t>
            </a:r>
            <a:r>
              <a:rPr lang="ru-BY" dirty="0"/>
              <a:t> </a:t>
            </a:r>
            <a:r>
              <a:rPr lang="ru-RU" dirty="0"/>
              <a:t>м</a:t>
            </a:r>
            <a:r>
              <a:rPr lang="ru-BY" dirty="0"/>
              <a:t>ай 2008 – ноябрь 2010</a:t>
            </a:r>
          </a:p>
          <a:p>
            <a:pPr algn="ctr"/>
            <a:endParaRPr lang="ru-BY" dirty="0"/>
          </a:p>
          <a:p>
            <a:r>
              <a:rPr lang="ru-BY" dirty="0"/>
              <a:t>Данные упорядочены по дате звонка</a:t>
            </a:r>
          </a:p>
          <a:p>
            <a:endParaRPr lang="ru-BY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Подготовка данных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783DDFE-7A31-D96A-09E2-24F39E7423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822"/>
          <a:stretch>
            <a:fillRect/>
          </a:stretch>
        </p:blipFill>
        <p:spPr>
          <a:xfrm>
            <a:off x="4811116" y="1327757"/>
            <a:ext cx="4220079" cy="29708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F9C780-D32E-0282-C66B-064098306BED}"/>
              </a:ext>
            </a:extLst>
          </p:cNvPr>
          <p:cNvSpPr txBox="1"/>
          <p:nvPr/>
        </p:nvSpPr>
        <p:spPr>
          <a:xfrm>
            <a:off x="500550" y="1426622"/>
            <a:ext cx="430052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BY" dirty="0"/>
              <a:t>Проверка на пропуски - пропусков нет</a:t>
            </a:r>
          </a:p>
          <a:p>
            <a:pPr marL="342900" indent="-342900">
              <a:buAutoNum type="arabicPeriod"/>
            </a:pPr>
            <a:r>
              <a:rPr lang="ru-BY" dirty="0"/>
              <a:t>Дубликатов нет</a:t>
            </a:r>
          </a:p>
          <a:p>
            <a:pPr marL="342900" indent="-342900">
              <a:buAutoNum type="arabicPeriod"/>
            </a:pPr>
            <a:r>
              <a:rPr lang="ru-BY" dirty="0"/>
              <a:t>Удален признак </a:t>
            </a:r>
            <a:r>
              <a:rPr lang="en-US" dirty="0"/>
              <a:t>duration </a:t>
            </a:r>
            <a:r>
              <a:rPr lang="ru-BY" dirty="0"/>
              <a:t>– длительность звонка известна только после окончания разговора </a:t>
            </a:r>
          </a:p>
          <a:p>
            <a:pPr marL="342900" indent="-342900">
              <a:buAutoNum type="arabicPeriod"/>
            </a:pPr>
            <a:r>
              <a:rPr lang="ru-BY" dirty="0"/>
              <a:t>Добавлен признак was_contacted_before</a:t>
            </a:r>
            <a:br>
              <a:rPr lang="ru-BY" dirty="0"/>
            </a:br>
            <a:r>
              <a:rPr lang="ru-BY" dirty="0"/>
              <a:t>(pdays ≠ -1); для pdays значение -1 заменено на 0</a:t>
            </a:r>
          </a:p>
          <a:p>
            <a:pPr marL="342900" indent="-342900">
              <a:buAutoNum type="arabicPeriod"/>
            </a:pPr>
            <a:r>
              <a:rPr lang="ru-BY" dirty="0"/>
              <a:t>Целевая переменная переведена в бинарный вид: yes → 1, no → 0</a:t>
            </a:r>
          </a:p>
          <a:p>
            <a:pPr marL="342900" indent="-342900">
              <a:buAutoNum type="arabicPeriod"/>
            </a:pPr>
            <a:endParaRPr lang="ru-BY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4C5C0-41A6-9AA9-12EF-38810B57A171}"/>
              </a:ext>
            </a:extLst>
          </p:cNvPr>
          <p:cNvSpPr txBox="1"/>
          <p:nvPr/>
        </p:nvSpPr>
        <p:spPr>
          <a:xfrm>
            <a:off x="1724105" y="4319820"/>
            <a:ext cx="56957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BY" dirty="0"/>
              <a:t>Доля согласий на открытие вклада в общем пуле данных – 11.7%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49518F-8283-0016-9916-5D52B5116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692533"/>
          </a:xfrm>
        </p:spPr>
        <p:txBody>
          <a:bodyPr/>
          <a:lstStyle/>
          <a:p>
            <a:r>
              <a:rPr lang="ru-BY" dirty="0"/>
              <a:t>Выбор метрики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4068E9-223C-0195-C38C-47DA3A15F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3350" indent="0" algn="ctr">
              <a:buNone/>
            </a:pPr>
            <a:r>
              <a:rPr lang="ru-BY" sz="1800" dirty="0">
                <a:latin typeface="+mn-lt"/>
              </a:rPr>
              <a:t>Так как классы несбалансированы (ответ </a:t>
            </a:r>
            <a:r>
              <a:rPr lang="en-US" sz="1800" dirty="0">
                <a:latin typeface="+mn-lt"/>
              </a:rPr>
              <a:t>“yes” </a:t>
            </a:r>
            <a:r>
              <a:rPr lang="ru-BY" sz="1800" dirty="0">
                <a:latin typeface="+mn-lt"/>
              </a:rPr>
              <a:t>более важен для итоговой цели, но его общий процент небольшой) выбрана </a:t>
            </a:r>
            <a:br>
              <a:rPr lang="ru-BY" sz="1800" dirty="0">
                <a:latin typeface="+mn-lt"/>
              </a:rPr>
            </a:br>
            <a:r>
              <a:rPr lang="ru-BY" sz="1800" dirty="0">
                <a:latin typeface="+mn-lt"/>
              </a:rPr>
              <a:t>метрика PR-AUC</a:t>
            </a:r>
          </a:p>
          <a:p>
            <a:pPr marL="133350" indent="0" algn="ctr">
              <a:buNone/>
            </a:pPr>
            <a:r>
              <a:rPr lang="es-419" sz="1800" i="0" dirty="0">
                <a:effectLst/>
                <a:latin typeface="+mn-lt"/>
              </a:rPr>
              <a:t>Accuracy</a:t>
            </a:r>
            <a:r>
              <a:rPr lang="es-419" sz="1800" b="0" i="0" dirty="0">
                <a:effectLst/>
                <a:latin typeface="+mn-lt"/>
              </a:rPr>
              <a:t> </a:t>
            </a:r>
            <a:r>
              <a:rPr lang="ru-RU" sz="1800" dirty="0">
                <a:latin typeface="+mn-lt"/>
              </a:rPr>
              <a:t>не подходит - отказов около 88%, поэтому модель, которая всегда говорит “</a:t>
            </a:r>
            <a:r>
              <a:rPr lang="es-419" sz="1800" dirty="0">
                <a:latin typeface="+mn-lt"/>
              </a:rPr>
              <a:t>no”, </a:t>
            </a:r>
            <a:r>
              <a:rPr lang="ru-RU" sz="1800" dirty="0">
                <a:latin typeface="+mn-lt"/>
              </a:rPr>
              <a:t>уже получит </a:t>
            </a:r>
            <a:r>
              <a:rPr lang="es-419" sz="1800" dirty="0">
                <a:latin typeface="+mn-lt"/>
              </a:rPr>
              <a:t>accuracy ≈ 88%</a:t>
            </a:r>
            <a:endParaRPr lang="ru-RU" sz="1800" dirty="0">
              <a:latin typeface="+mn-lt"/>
            </a:endParaRPr>
          </a:p>
          <a:p>
            <a:pPr marL="133350" indent="0" algn="ctr">
              <a:buNone/>
            </a:pPr>
            <a:r>
              <a:rPr lang="ru-BY" sz="1800" dirty="0">
                <a:latin typeface="+mn-lt"/>
              </a:rPr>
              <a:t>Precision, recall и F1 зависят от выбранного порога вероятности</a:t>
            </a:r>
            <a:r>
              <a:rPr lang="ru-RU" sz="1800" dirty="0">
                <a:latin typeface="+mn-lt"/>
              </a:rPr>
              <a:t>, при пороге 0,5 модель найдет много согласий, но будет много ложных согласий, а если порог повысить то будут пропущены клиенты, которые могли бы согласиться в теории.</a:t>
            </a:r>
            <a:endParaRPr lang="ru-BY" sz="1800" dirty="0">
              <a:latin typeface="+mn-lt"/>
            </a:endParaRPr>
          </a:p>
          <a:p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50248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C8694F-BB3C-0C29-C380-0B9C0566E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BY" b="0" dirty="0"/>
              <a:t>Выбор скейлера и подготовка</a:t>
            </a:r>
            <a:endParaRPr lang="ru-BY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2FFB82-F0E7-07A0-228B-06288EE4B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133350" indent="0">
              <a:buNone/>
            </a:pPr>
            <a:r>
              <a:rPr lang="ru-BY" dirty="0">
                <a:latin typeface="+mn-lt"/>
              </a:rPr>
              <a:t>Сравнивались StandardScaler и RobustScaler на проверочной выборке по PR-AUC.</a:t>
            </a:r>
            <a:br>
              <a:rPr lang="ru-BY" dirty="0">
                <a:latin typeface="+mn-lt"/>
              </a:rPr>
            </a:br>
            <a:r>
              <a:rPr lang="ru-BY" dirty="0">
                <a:latin typeface="+mn-lt"/>
              </a:rPr>
              <a:t>RobustScaler проверялся из‑за выбросов у полей balance, campaign и previous.</a:t>
            </a:r>
            <a:br>
              <a:rPr lang="ru-BY" dirty="0">
                <a:latin typeface="+mn-lt"/>
              </a:rPr>
            </a:br>
            <a:endParaRPr lang="ru-BY" dirty="0">
              <a:latin typeface="+mn-lt"/>
            </a:endParaRPr>
          </a:p>
          <a:p>
            <a:pPr marL="133350" indent="0">
              <a:buNone/>
            </a:pPr>
            <a:r>
              <a:rPr lang="ru-BY" dirty="0">
                <a:latin typeface="+mn-lt"/>
              </a:rPr>
              <a:t>Лучший вариант — </a:t>
            </a:r>
            <a:r>
              <a:rPr lang="ru-BY" b="1" dirty="0">
                <a:latin typeface="+mn-lt"/>
              </a:rPr>
              <a:t>StandardScaler + was_contacted_before</a:t>
            </a:r>
          </a:p>
          <a:p>
            <a:pPr marL="133350" indent="0">
              <a:buNone/>
            </a:pPr>
            <a:endParaRPr lang="ru-BY" b="1" dirty="0">
              <a:latin typeface="+mn-lt"/>
            </a:endParaRPr>
          </a:p>
          <a:p>
            <a:pPr marL="133350" indent="0">
              <a:buNone/>
            </a:pPr>
            <a:endParaRPr lang="ru-BY" b="1" dirty="0">
              <a:latin typeface="+mn-lt"/>
            </a:endParaRPr>
          </a:p>
          <a:p>
            <a:pPr marL="133350" indent="0">
              <a:buNone/>
            </a:pPr>
            <a:endParaRPr lang="ru-BY" b="1" dirty="0">
              <a:latin typeface="+mn-lt"/>
            </a:endParaRPr>
          </a:p>
          <a:p>
            <a:pPr marL="133350" indent="0">
              <a:buNone/>
            </a:pPr>
            <a:endParaRPr lang="ru-BY" b="1" dirty="0">
              <a:latin typeface="+mn-lt"/>
            </a:endParaRPr>
          </a:p>
          <a:p>
            <a:pPr marL="133350" indent="0">
              <a:buNone/>
            </a:pPr>
            <a:endParaRPr lang="ru-BY" b="1" dirty="0">
              <a:latin typeface="+mn-lt"/>
            </a:endParaRPr>
          </a:p>
          <a:p>
            <a:pPr marL="133350" indent="0">
              <a:buNone/>
            </a:pPr>
            <a:r>
              <a:rPr lang="ru-BY" dirty="0">
                <a:latin typeface="+mn-lt"/>
              </a:rPr>
              <a:t>Данные разделены по времени в пропорции: </a:t>
            </a:r>
          </a:p>
          <a:p>
            <a:pPr marL="133350" indent="0">
              <a:buNone/>
            </a:pPr>
            <a:r>
              <a:rPr lang="ru-BY" b="1" dirty="0">
                <a:latin typeface="+mn-lt"/>
              </a:rPr>
              <a:t>60% (</a:t>
            </a:r>
            <a:r>
              <a:rPr lang="es-419" b="1" dirty="0">
                <a:latin typeface="+mn-lt"/>
              </a:rPr>
              <a:t>train</a:t>
            </a:r>
            <a:r>
              <a:rPr lang="ru-RU" b="1" dirty="0">
                <a:latin typeface="+mn-lt"/>
              </a:rPr>
              <a:t>)</a:t>
            </a:r>
            <a:r>
              <a:rPr lang="ru-BY" b="1" dirty="0">
                <a:latin typeface="+mn-lt"/>
              </a:rPr>
              <a:t> </a:t>
            </a:r>
            <a:r>
              <a:rPr lang="ru-BY" dirty="0">
                <a:latin typeface="+mn-lt"/>
              </a:rPr>
              <a:t>- обучающая выборка </a:t>
            </a:r>
          </a:p>
          <a:p>
            <a:pPr marL="133350" indent="0">
              <a:buNone/>
            </a:pPr>
            <a:r>
              <a:rPr lang="ru-BY" b="1" dirty="0">
                <a:latin typeface="+mn-lt"/>
              </a:rPr>
              <a:t>20% (val) </a:t>
            </a:r>
            <a:r>
              <a:rPr lang="ru-BY" dirty="0">
                <a:latin typeface="+mn-lt"/>
              </a:rPr>
              <a:t>-</a:t>
            </a:r>
            <a:r>
              <a:rPr lang="en-US" dirty="0">
                <a:latin typeface="+mn-lt"/>
              </a:rPr>
              <a:t> </a:t>
            </a:r>
            <a:r>
              <a:rPr lang="ru-RU" dirty="0">
                <a:latin typeface="+mn-lt"/>
              </a:rPr>
              <a:t>для подбора настроек и выбор лучшей модели</a:t>
            </a:r>
            <a:r>
              <a:rPr lang="ru-BY" dirty="0">
                <a:latin typeface="+mn-lt"/>
              </a:rPr>
              <a:t> </a:t>
            </a:r>
          </a:p>
          <a:p>
            <a:pPr marL="133350" indent="0">
              <a:buNone/>
            </a:pPr>
            <a:r>
              <a:rPr lang="ru-BY" b="1" dirty="0">
                <a:latin typeface="+mn-lt"/>
              </a:rPr>
              <a:t>20%</a:t>
            </a:r>
            <a:r>
              <a:rPr lang="en-US" b="1" dirty="0">
                <a:latin typeface="+mn-lt"/>
              </a:rPr>
              <a:t> (test)</a:t>
            </a:r>
            <a:r>
              <a:rPr lang="ru-BY" b="1" dirty="0">
                <a:latin typeface="+mn-lt"/>
              </a:rPr>
              <a:t> </a:t>
            </a:r>
            <a:r>
              <a:rPr lang="ru-BY" dirty="0">
                <a:latin typeface="+mn-lt"/>
              </a:rPr>
              <a:t>-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данные</a:t>
            </a:r>
            <a:r>
              <a:rPr lang="ru-RU" dirty="0">
                <a:latin typeface="+mn-lt"/>
              </a:rPr>
              <a:t> для финальной проверки; в обучении и выборе победителя не участвуют.</a:t>
            </a:r>
            <a:endParaRPr lang="ru-BY" dirty="0">
              <a:latin typeface="+mn-lt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CE1913-01D2-767F-2BB0-7AFBFA9D9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919" y="2450990"/>
            <a:ext cx="4310858" cy="126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74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05C08C-46C8-C68E-54C0-BF2580217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BY" dirty="0"/>
              <a:t>Модели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4EFA2D-99D9-F93B-C626-C3BC32CD9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3350" indent="0">
              <a:buNone/>
            </a:pPr>
            <a:r>
              <a:rPr lang="ru-RU" dirty="0"/>
              <a:t>4 варианта </a:t>
            </a:r>
            <a:r>
              <a:rPr lang="es-419" dirty="0"/>
              <a:t>LogReg: </a:t>
            </a:r>
            <a:r>
              <a:rPr lang="ru-RU" dirty="0"/>
              <a:t>без регуляризации, </a:t>
            </a:r>
            <a:r>
              <a:rPr lang="es-419" dirty="0"/>
              <a:t>L2, L1, ElasticNet</a:t>
            </a:r>
          </a:p>
          <a:p>
            <a:r>
              <a:rPr lang="ru-RU" dirty="0"/>
              <a:t>для </a:t>
            </a:r>
            <a:r>
              <a:rPr lang="es-419" dirty="0"/>
              <a:t>L2 / L1 / ElasticNet: </a:t>
            </a:r>
            <a:r>
              <a:rPr lang="ru-RU" dirty="0"/>
              <a:t>подбор </a:t>
            </a:r>
            <a:r>
              <a:rPr lang="ru-RU" dirty="0" err="1"/>
              <a:t>гиперпараметров</a:t>
            </a:r>
            <a:r>
              <a:rPr lang="ru-RU" dirty="0"/>
              <a:t> на </a:t>
            </a:r>
            <a:r>
              <a:rPr lang="es-419" dirty="0"/>
              <a:t>train </a:t>
            </a:r>
            <a:r>
              <a:rPr lang="ru-RU" dirty="0"/>
              <a:t>через </a:t>
            </a:r>
            <a:r>
              <a:rPr lang="es-419" dirty="0"/>
              <a:t>GridSearchCV </a:t>
            </a:r>
            <a:endParaRPr lang="ru-RU" dirty="0"/>
          </a:p>
          <a:p>
            <a:r>
              <a:rPr lang="es-419" dirty="0"/>
              <a:t>CV=3, </a:t>
            </a:r>
            <a:r>
              <a:rPr lang="ru-RU" dirty="0">
                <a:latin typeface="+mn-lt"/>
              </a:rPr>
              <a:t>критерий</a:t>
            </a:r>
            <a:r>
              <a:rPr lang="ru-RU" dirty="0"/>
              <a:t> — </a:t>
            </a:r>
            <a:r>
              <a:rPr lang="es-419" dirty="0"/>
              <a:t>average precision</a:t>
            </a:r>
          </a:p>
          <a:p>
            <a:r>
              <a:rPr lang="ru-RU" dirty="0"/>
              <a:t>сила регуляризации </a:t>
            </a:r>
            <a:r>
              <a:rPr lang="es-419" dirty="0"/>
              <a:t>C: </a:t>
            </a:r>
            <a:r>
              <a:rPr lang="ru-RU" dirty="0"/>
              <a:t>от 0.001 до 100 </a:t>
            </a:r>
            <a:endParaRPr lang="es-419" dirty="0"/>
          </a:p>
          <a:p>
            <a:r>
              <a:rPr lang="ru-RU" dirty="0"/>
              <a:t>у </a:t>
            </a:r>
            <a:r>
              <a:rPr lang="es-419" dirty="0"/>
              <a:t>ElasticNet </a:t>
            </a:r>
            <a:r>
              <a:rPr lang="ru-RU" dirty="0"/>
              <a:t>дополнительно доля </a:t>
            </a:r>
            <a:r>
              <a:rPr lang="es-419" dirty="0"/>
              <a:t>L1: 0.1, 0.3, 0.5, 0.7, 0.9</a:t>
            </a:r>
          </a:p>
          <a:p>
            <a:pPr marL="133350" indent="0">
              <a:buNone/>
            </a:pPr>
            <a:endParaRPr lang="ru-RU" dirty="0"/>
          </a:p>
          <a:p>
            <a:pPr marL="133350" indent="0">
              <a:buNone/>
            </a:pPr>
            <a:r>
              <a:rPr lang="ru-RU" dirty="0"/>
              <a:t>Итог подбора: у </a:t>
            </a:r>
            <a:r>
              <a:rPr lang="es-419" dirty="0"/>
              <a:t>L2 </a:t>
            </a:r>
            <a:r>
              <a:rPr lang="ru-RU" dirty="0"/>
              <a:t>и </a:t>
            </a:r>
            <a:r>
              <a:rPr lang="es-419" dirty="0"/>
              <a:t>L1 — C=0.001; </a:t>
            </a:r>
            <a:r>
              <a:rPr lang="ru-RU" dirty="0"/>
              <a:t>у </a:t>
            </a:r>
            <a:r>
              <a:rPr lang="es-419" dirty="0"/>
              <a:t>ElasticNet — C=0.001, l1_ratio=0.9</a:t>
            </a:r>
          </a:p>
          <a:p>
            <a:pPr marL="133350" indent="0">
              <a:buNone/>
            </a:pP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606293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762DD-B692-B618-5CD9-C48BED09E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BY" dirty="0">
                <a:latin typeface="+mn-lt"/>
              </a:rPr>
              <a:t>Модели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016D71-746E-08D9-2F07-7855C3B6A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1105193"/>
            <a:ext cx="8520600" cy="3416400"/>
          </a:xfrm>
        </p:spPr>
        <p:txBody>
          <a:bodyPr>
            <a:normAutofit/>
          </a:bodyPr>
          <a:lstStyle/>
          <a:p>
            <a:pPr marL="133350" indent="0">
              <a:buNone/>
            </a:pPr>
            <a:r>
              <a:rPr lang="es-419" b="1" dirty="0"/>
              <a:t>CatBoost</a:t>
            </a:r>
            <a:r>
              <a:rPr lang="es-419" dirty="0"/>
              <a:t>: </a:t>
            </a:r>
            <a:r>
              <a:rPr lang="ru-RU" dirty="0"/>
              <a:t>категории подаются напрямую</a:t>
            </a:r>
          </a:p>
          <a:p>
            <a:r>
              <a:rPr lang="ru-RU" dirty="0"/>
              <a:t>перебор сетки: </a:t>
            </a:r>
            <a:r>
              <a:rPr lang="es-419" dirty="0"/>
              <a:t>depth 4 </a:t>
            </a:r>
            <a:r>
              <a:rPr lang="ru-RU" dirty="0"/>
              <a:t>и 6; </a:t>
            </a:r>
            <a:r>
              <a:rPr lang="es-419" dirty="0"/>
              <a:t>learning_rate 0.03, 0.05, 0.1; l2_leaf_reg 1, 3, 10 (</a:t>
            </a:r>
            <a:r>
              <a:rPr lang="ru-RU" dirty="0"/>
              <a:t>всего 18 комбинаций) </a:t>
            </a:r>
          </a:p>
          <a:p>
            <a:r>
              <a:rPr lang="es-419" dirty="0"/>
              <a:t>early stopping: </a:t>
            </a:r>
            <a:r>
              <a:rPr lang="ru-RU" dirty="0"/>
              <a:t>максимум 500 итераций, остановка если 50 итераций без улучшения на </a:t>
            </a:r>
            <a:r>
              <a:rPr lang="es-419" dirty="0"/>
              <a:t>val </a:t>
            </a:r>
            <a:endParaRPr lang="ru-RU" dirty="0"/>
          </a:p>
          <a:p>
            <a:endParaRPr lang="ru-RU" dirty="0"/>
          </a:p>
          <a:p>
            <a:pPr marL="133350" indent="0" algn="ctr">
              <a:buNone/>
            </a:pPr>
            <a:r>
              <a:rPr lang="ru-RU" dirty="0"/>
              <a:t>Итоговые значения для модели </a:t>
            </a:r>
            <a:r>
              <a:rPr lang="es-419" dirty="0"/>
              <a:t>depth=6, learning_rate=0.1, l2_leaf_reg=10, best_iteration=12</a:t>
            </a:r>
            <a:endParaRPr lang="ru-RU" dirty="0"/>
          </a:p>
          <a:p>
            <a:pPr marL="133350" indent="0" algn="ctr">
              <a:buNone/>
            </a:pPr>
            <a:endParaRPr lang="ru-RU" dirty="0">
              <a:latin typeface="+mn-lt"/>
            </a:endParaRPr>
          </a:p>
          <a:p>
            <a:pPr marL="133350" indent="0" algn="ctr">
              <a:buNone/>
            </a:pPr>
            <a:r>
              <a:rPr lang="ru-RU" dirty="0"/>
              <a:t>У всех моделей использовалась балансировка классов (для компенсации редкости “</a:t>
            </a:r>
            <a:r>
              <a:rPr lang="es-419" dirty="0"/>
              <a:t>yes”) </a:t>
            </a:r>
            <a:br>
              <a:rPr lang="es-419" dirty="0"/>
            </a:br>
            <a:endParaRPr lang="es-419" dirty="0"/>
          </a:p>
          <a:p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4013658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CD35DB-5CDC-8705-BBF1-9EE8DC138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BY" dirty="0">
                <a:latin typeface="+mn-lt"/>
              </a:rPr>
              <a:t>Результаты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BF28EA-B36B-B8FB-F031-1BCE018DC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44" y="3305710"/>
            <a:ext cx="7772400" cy="1537159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CF656626-A13E-3F49-AD5C-8F97433F6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8244" y="1006340"/>
            <a:ext cx="8520600" cy="3416400"/>
          </a:xfrm>
        </p:spPr>
        <p:txBody>
          <a:bodyPr/>
          <a:lstStyle/>
          <a:p>
            <a:pPr marL="133350" indent="0" algn="ctr">
              <a:buNone/>
            </a:pPr>
            <a:r>
              <a:rPr lang="ru-RU" dirty="0"/>
              <a:t>По </a:t>
            </a:r>
            <a:r>
              <a:rPr lang="es-419" dirty="0"/>
              <a:t>PR-AUC </a:t>
            </a:r>
            <a:r>
              <a:rPr lang="ru-RU" dirty="0"/>
              <a:t>на проверочной выборке лучший — </a:t>
            </a:r>
            <a:r>
              <a:rPr lang="es-419" b="1" dirty="0"/>
              <a:t>CatBoost</a:t>
            </a:r>
            <a:r>
              <a:rPr lang="es-419" dirty="0"/>
              <a:t> (0.179)</a:t>
            </a:r>
            <a:endParaRPr lang="ru-RU" dirty="0"/>
          </a:p>
          <a:p>
            <a:pPr marL="133350" indent="0" algn="ctr">
              <a:buNone/>
            </a:pPr>
            <a:r>
              <a:rPr lang="ru-RU" dirty="0"/>
              <a:t>На тесте у него показатели выше остальных</a:t>
            </a:r>
          </a:p>
          <a:p>
            <a:pPr marL="133350" indent="0" algn="ctr">
              <a:buNone/>
            </a:pPr>
            <a:r>
              <a:rPr lang="es-419" dirty="0"/>
              <a:t>LogReg L2 </a:t>
            </a:r>
            <a:r>
              <a:rPr lang="ru-RU" dirty="0"/>
              <a:t>и </a:t>
            </a:r>
            <a:r>
              <a:rPr lang="en-US" dirty="0" err="1"/>
              <a:t>LogReg</a:t>
            </a:r>
            <a:r>
              <a:rPr lang="en-US" dirty="0"/>
              <a:t> (none) </a:t>
            </a:r>
            <a:r>
              <a:rPr lang="ru-RU" dirty="0"/>
              <a:t>справились чуть хуже</a:t>
            </a:r>
            <a:r>
              <a:rPr lang="en-US" dirty="0"/>
              <a:t>, </a:t>
            </a:r>
            <a:r>
              <a:rPr lang="ru-RU" dirty="0"/>
              <a:t>но как альтернатива справляются</a:t>
            </a:r>
          </a:p>
          <a:p>
            <a:pPr marL="133350" indent="0" algn="ctr">
              <a:buNone/>
            </a:pPr>
            <a:endParaRPr lang="ru-RU" dirty="0"/>
          </a:p>
          <a:p>
            <a:pPr marL="133350" indent="0" algn="ctr">
              <a:buNone/>
            </a:pPr>
            <a:r>
              <a:rPr lang="es-419" dirty="0"/>
              <a:t>L1 </a:t>
            </a:r>
            <a:r>
              <a:rPr lang="ru-RU" dirty="0"/>
              <a:t>и </a:t>
            </a:r>
            <a:r>
              <a:rPr lang="es-419" dirty="0"/>
              <a:t>ElasticNet </a:t>
            </a:r>
            <a:r>
              <a:rPr lang="ru-RU" dirty="0"/>
              <a:t>фактически не работают (</a:t>
            </a:r>
            <a:r>
              <a:rPr lang="es-419" dirty="0"/>
              <a:t>ROC-AUC = 0.5; </a:t>
            </a:r>
            <a:r>
              <a:rPr lang="ru-RU" dirty="0"/>
              <a:t>у </a:t>
            </a:r>
            <a:r>
              <a:rPr lang="es-419" dirty="0"/>
              <a:t>L1 F1 = 0).</a:t>
            </a:r>
          </a:p>
          <a:p>
            <a:pPr marL="133350" indent="0">
              <a:buNone/>
            </a:pPr>
            <a:br>
              <a:rPr lang="es-419" dirty="0"/>
            </a:b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3563053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C7258C-E12A-6BFE-D557-854C1D50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BY" dirty="0"/>
              <a:t>Результаты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837E02-3FD6-CD4D-4CC5-058E7775B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010616"/>
            <a:ext cx="3090206" cy="2107679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3AE598-3190-E6B7-4153-348B13144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878674"/>
            <a:ext cx="4203255" cy="3524814"/>
          </a:xfrm>
        </p:spPr>
        <p:txBody>
          <a:bodyPr/>
          <a:lstStyle/>
          <a:p>
            <a:pPr marL="133350" indent="0">
              <a:buNone/>
            </a:pPr>
            <a:r>
              <a:rPr lang="ru-BY" dirty="0"/>
              <a:t>По итогу ключевые признаки: </a:t>
            </a:r>
            <a:r>
              <a:rPr lang="ru-RU" dirty="0"/>
              <a:t>месяц контакта, число звонков, семейное положение и </a:t>
            </a:r>
            <a:r>
              <a:rPr lang="ru-RU" dirty="0">
                <a:latin typeface="+mn-lt"/>
              </a:rPr>
              <a:t>баланс</a:t>
            </a:r>
            <a:r>
              <a:rPr lang="ru-RU" dirty="0"/>
              <a:t> клиента.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133350" indent="0">
              <a:buNone/>
            </a:pPr>
            <a:r>
              <a:rPr lang="es-419" dirty="0"/>
              <a:t>Train/val/test: </a:t>
            </a:r>
            <a:r>
              <a:rPr lang="ru-RU" dirty="0"/>
              <a:t>по </a:t>
            </a:r>
            <a:r>
              <a:rPr lang="es-419" dirty="0"/>
              <a:t>ROC-AUC </a:t>
            </a:r>
            <a:r>
              <a:rPr lang="ru-RU" dirty="0"/>
              <a:t>переобучения нет; на </a:t>
            </a:r>
            <a:r>
              <a:rPr lang="es-419" dirty="0"/>
              <a:t>test </a:t>
            </a:r>
            <a:r>
              <a:rPr lang="ru-RU" dirty="0"/>
              <a:t>качество выше из‑за сдвига доли согласий во времени.</a:t>
            </a:r>
          </a:p>
          <a:p>
            <a:endParaRPr lang="ru-BY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11B4FE-5D05-DB2F-6B8E-34B54A838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850" y="3521771"/>
            <a:ext cx="4001542" cy="10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93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 dirty="0">
                <a:solidFill>
                  <a:schemeClr val="lt1"/>
                </a:solidFill>
              </a:rPr>
              <a:t>Спасибо за внимание!</a:t>
            </a:r>
            <a:endParaRPr sz="5000" dirty="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</TotalTime>
  <Words>819</Words>
  <Application>Microsoft Macintosh PowerPoint</Application>
  <PresentationFormat>Экран (16:9)</PresentationFormat>
  <Paragraphs>93</Paragraphs>
  <Slides>12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Courier New</vt:lpstr>
      <vt:lpstr>Menlo</vt:lpstr>
      <vt:lpstr>Arial</vt:lpstr>
      <vt:lpstr>Roboto Medium</vt:lpstr>
      <vt:lpstr>Roboto</vt:lpstr>
      <vt:lpstr>Светлая тема</vt:lpstr>
      <vt:lpstr>Светлая тема</vt:lpstr>
      <vt:lpstr>Презентация PowerPoint</vt:lpstr>
      <vt:lpstr>О себе </vt:lpstr>
      <vt:lpstr>Презентация PowerPoint</vt:lpstr>
      <vt:lpstr>Изначальные данные </vt:lpstr>
      <vt:lpstr>Подготовка данных</vt:lpstr>
      <vt:lpstr>Выбор метрики</vt:lpstr>
      <vt:lpstr>Выбор скейлера и подготовка</vt:lpstr>
      <vt:lpstr>Модели</vt:lpstr>
      <vt:lpstr>Модели</vt:lpstr>
      <vt:lpstr>Результаты</vt:lpstr>
      <vt:lpstr>Результаты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Polly</cp:lastModifiedBy>
  <cp:revision>5</cp:revision>
  <dcterms:modified xsi:type="dcterms:W3CDTF">2026-07-18T11:02:07Z</dcterms:modified>
</cp:coreProperties>
</file>