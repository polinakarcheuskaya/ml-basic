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1" r:id="rId2"/>
  </p:sldMasterIdLst>
  <p:notesMasterIdLst>
    <p:notesMasterId r:id="rId13"/>
  </p:notesMasterIdLst>
  <p:sldIdLst>
    <p:sldId id="256" r:id="rId3"/>
    <p:sldId id="258" r:id="rId4"/>
    <p:sldId id="260" r:id="rId5"/>
    <p:sldId id="261" r:id="rId6"/>
    <p:sldId id="262" r:id="rId7"/>
    <p:sldId id="299" r:id="rId8"/>
    <p:sldId id="300" r:id="rId9"/>
    <p:sldId id="301" r:id="rId10"/>
    <p:sldId id="263" r:id="rId11"/>
    <p:sldId id="265" r:id="rId12"/>
  </p:sldIdLst>
  <p:sldSz cx="9144000" cy="5143500" type="screen16x9"/>
  <p:notesSz cx="6858000" cy="9144000"/>
  <p:embeddedFontLst>
    <p:embeddedFont>
      <p:font typeface="Roboto" panose="02000000000000000000" pitchFamily="2" charset="0"/>
      <p:regular r:id="rId14"/>
      <p:bold r:id="rId15"/>
      <p:italic r:id="rId16"/>
      <p:boldItalic r:id="rId17"/>
    </p:embeddedFont>
    <p:embeddedFont>
      <p:font typeface="Roboto Medium" panose="02000000000000000000" pitchFamily="2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9122108-2A36-42DF-A35F-760401D71D52}">
  <a:tblStyle styleId="{89122108-2A36-42DF-A35F-760401D71D5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4752"/>
  </p:normalViewPr>
  <p:slideViewPr>
    <p:cSldViewPr snapToGrid="0">
      <p:cViewPr varScale="1">
        <p:scale>
          <a:sx n="117" d="100"/>
          <a:sy n="117" d="100"/>
        </p:scale>
        <p:origin x="176" y="784"/>
      </p:cViewPr>
      <p:guideLst>
        <p:guide pos="5533"/>
        <p:guide pos="397"/>
        <p:guide orient="horz" pos="3240"/>
        <p:guide orient="horz"/>
        <p:guide orient="horz" pos="5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1.xml"/><Relationship Id="rId21" Type="http://schemas.openxmlformats.org/officeDocument/2006/relationships/font" Target="fonts/font8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4.fntdata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font" Target="fonts/font6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26956446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100" r="100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3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2"/>
          <a:stretch/>
        </p:blipFill>
        <p:spPr>
          <a:xfrm>
            <a:off x="-132377" y="-2655946"/>
            <a:ext cx="9408753" cy="836047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599648" y="1524291"/>
            <a:ext cx="7584300" cy="1292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90000"/>
              </a:lnSpc>
            </a:pPr>
            <a:r>
              <a:rPr lang="ru-BY" sz="4000" dirty="0">
                <a:solidFill>
                  <a:schemeClr val="bg1"/>
                </a:solidFill>
              </a:rPr>
              <a:t>Прогноз согласия клиента на срочный вклад</a:t>
            </a: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629700" y="4138025"/>
            <a:ext cx="292050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794610" y="4162057"/>
            <a:ext cx="2407800" cy="3785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lnSpc>
                <a:spcPct val="90000"/>
              </a:lnSpc>
            </a:pPr>
            <a:r>
              <a:rPr lang="ru-BY" sz="1400" b="1" i="0" dirty="0">
                <a:solidFill>
                  <a:schemeClr val="bg1"/>
                </a:solidFill>
                <a:effectLst/>
                <a:latin typeface="Roboto" panose="02000000000000000000" pitchFamily="2" charset="0"/>
              </a:rPr>
              <a:t>Machine Learning. Basic</a:t>
            </a:r>
            <a:endParaRPr sz="100" dirty="0">
              <a:solidFill>
                <a:schemeClr val="bg1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>
            <a:spLocks noGrp="1"/>
          </p:cNvSpPr>
          <p:nvPr>
            <p:ph type="title"/>
          </p:nvPr>
        </p:nvSpPr>
        <p:spPr>
          <a:xfrm>
            <a:off x="500550" y="313624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buSzPts val="1100"/>
            </a:pPr>
            <a:r>
              <a:rPr lang="ru-RU" sz="3000" dirty="0"/>
              <a:t>О себе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5" name="Google Shape;165;p37"/>
          <p:cNvSpPr txBox="1"/>
          <p:nvPr/>
        </p:nvSpPr>
        <p:spPr>
          <a:xfrm>
            <a:off x="3975675" y="1130319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Полина Корчевская</a:t>
            </a:r>
            <a:endParaRPr sz="23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7"/>
          <p:cNvSpPr txBox="1"/>
          <p:nvPr/>
        </p:nvSpPr>
        <p:spPr>
          <a:xfrm>
            <a:off x="3975674" y="1730623"/>
            <a:ext cx="4667775" cy="1661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120000"/>
              </a:lnSpc>
            </a:pPr>
            <a:r>
              <a:rPr lang="ru-BY" sz="1600" dirty="0"/>
              <a:t>Java-разработчик </a:t>
            </a:r>
            <a:r>
              <a:rPr lang="ru" sz="1600" dirty="0">
                <a:latin typeface="Roboto Medium"/>
                <a:ea typeface="Roboto Medium"/>
                <a:cs typeface="Roboto Medium"/>
                <a:sym typeface="Roboto Medium"/>
              </a:rPr>
              <a:t>в </a:t>
            </a:r>
            <a:r>
              <a:rPr lang="en-US" sz="1600" dirty="0">
                <a:latin typeface="Roboto Medium"/>
                <a:ea typeface="Roboto Medium"/>
                <a:cs typeface="Roboto Medium"/>
                <a:sym typeface="Roboto Medium"/>
              </a:rPr>
              <a:t>BSB </a:t>
            </a:r>
            <a:r>
              <a:rPr lang="ru" sz="1600" dirty="0">
                <a:latin typeface="Roboto Medium"/>
                <a:ea typeface="Roboto Medium"/>
                <a:cs typeface="Roboto Medium"/>
                <a:sym typeface="Roboto Medium"/>
              </a:rPr>
              <a:t>банке</a:t>
            </a:r>
            <a:r>
              <a:rPr lang="ru-BY" sz="1600" dirty="0"/>
              <a:t> с опытом более 4 лет. Интересуюсь анализом данных и машинным обучением, стремлюсь расширить профессиональные компетенции и применять ML для решения практических задач.</a:t>
            </a:r>
            <a:endParaRPr sz="1600" dirty="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7C7E504-8B75-CEE2-EDE7-35C5CBACA5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831" y="1130319"/>
            <a:ext cx="3193200" cy="3193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>
          <a:xfrm>
            <a:off x="560500" y="324881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3000" b="1">
                <a:latin typeface="Roboto"/>
                <a:ea typeface="Roboto"/>
                <a:cs typeface="Roboto"/>
                <a:sym typeface="Roboto"/>
              </a:rPr>
              <a:t>ь и задачи</a:t>
            </a: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проекта</a:t>
            </a:r>
            <a:endParaRPr sz="30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86" name="Google Shape;186;p39"/>
          <p:cNvGraphicFramePr/>
          <p:nvPr>
            <p:extLst>
              <p:ext uri="{D42A27DB-BD31-4B8C-83A1-F6EECF244321}">
                <p14:modId xmlns:p14="http://schemas.microsoft.com/office/powerpoint/2010/main" val="3202765980"/>
              </p:ext>
            </p:extLst>
          </p:nvPr>
        </p:nvGraphicFramePr>
        <p:xfrm>
          <a:off x="560499" y="2370281"/>
          <a:ext cx="7865043" cy="2609066"/>
        </p:xfrm>
        <a:graphic>
          <a:graphicData uri="http://schemas.openxmlformats.org/drawingml/2006/table">
            <a:tbl>
              <a:tblPr>
                <a:noFill/>
                <a:tableStyleId>{89122108-2A36-42DF-A35F-760401D71D52}</a:tableStyleId>
              </a:tblPr>
              <a:tblGrid>
                <a:gridCol w="5317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332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BY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Провести исследовательский анализ данных – сделать предобработку и очистку данных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BY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Визуализировать данные (распределения, конверсии по категориям, корреляции, сравнения по классам) и оформить результаты анализа в наглядном виде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BY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Обучить и сравнить модели классификации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BY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Проконтролировать переобучение и оценить качество по метрикам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7" name="Google Shape;187;p39"/>
          <p:cNvSpPr/>
          <p:nvPr/>
        </p:nvSpPr>
        <p:spPr>
          <a:xfrm>
            <a:off x="560500" y="1064081"/>
            <a:ext cx="7865043" cy="11340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lvl="0"/>
            <a:r>
              <a:rPr lang="ru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Цель проекта: </a:t>
            </a:r>
            <a:r>
              <a:rPr lang="ru-BY" dirty="0"/>
              <a:t>Построить модель, которая по данным о клиенте и параметрах телефонной маркетинговой кампании предсказывает вероятность согласия на открытие срочного вклада, и на основе анализа данных сформулировать практические выводы для банка.</a:t>
            </a:r>
            <a:endParaRPr sz="15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/>
              <a:t>Изначальные данные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162435877"/>
              </p:ext>
            </p:extLst>
          </p:nvPr>
        </p:nvGraphicFramePr>
        <p:xfrm>
          <a:off x="307904" y="1488956"/>
          <a:ext cx="5341781" cy="4537909"/>
        </p:xfrm>
        <a:graphic>
          <a:graphicData uri="http://schemas.openxmlformats.org/drawingml/2006/table">
            <a:tbl>
              <a:tblPr>
                <a:noFill/>
                <a:tableStyleId>{89122108-2A36-42DF-A35F-760401D71D52}</a:tableStyleId>
              </a:tblPr>
              <a:tblGrid>
                <a:gridCol w="3611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806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03683">
                <a:tc>
                  <a:txBody>
                    <a:bodyPr/>
                    <a:lstStyle/>
                    <a:p>
                      <a:pPr algn="l">
                        <a:lnSpc>
                          <a:spcPts val="1350"/>
                        </a:lnSpc>
                        <a:buNone/>
                      </a:pPr>
                      <a:endParaRPr lang="ru-BY" sz="1200" b="0" dirty="0">
                        <a:solidFill>
                          <a:srgbClr val="E4E4E4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BY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Arial"/>
                          <a:sym typeface="Arial"/>
                        </a:rPr>
                        <a:t>1. age - возраст клиента в годах</a:t>
                      </a:r>
                    </a:p>
                    <a:p>
                      <a:pPr algn="l"/>
                      <a:r>
                        <a:rPr lang="ru-BY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Arial"/>
                          <a:sym typeface="Arial"/>
                        </a:rPr>
                        <a:t>2. job - род занятий</a:t>
                      </a:r>
                    </a:p>
                    <a:p>
                      <a:pPr algn="l"/>
                      <a:r>
                        <a:rPr lang="ru-BY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Arial"/>
                          <a:sym typeface="Arial"/>
                        </a:rPr>
                        <a:t>3. marital - семейное положение</a:t>
                      </a:r>
                    </a:p>
                    <a:p>
                      <a:pPr algn="l"/>
                      <a:r>
                        <a:rPr lang="ru-BY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Arial"/>
                          <a:sym typeface="Arial"/>
                        </a:rPr>
                        <a:t>4. education - образование</a:t>
                      </a:r>
                    </a:p>
                    <a:p>
                      <a:pPr algn="l"/>
                      <a:r>
                        <a:rPr lang="ru-BY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Arial"/>
                          <a:sym typeface="Arial"/>
                        </a:rPr>
                        <a:t>5. default - наличие просрочки по кредиту</a:t>
                      </a:r>
                    </a:p>
                    <a:p>
                      <a:pPr algn="l"/>
                      <a:r>
                        <a:rPr lang="ru-BY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Arial"/>
                          <a:sym typeface="Arial"/>
                        </a:rPr>
                        <a:t>6. balance - годовой баланс на счёте в евро</a:t>
                      </a:r>
                    </a:p>
                    <a:p>
                      <a:pPr algn="l"/>
                      <a:r>
                        <a:rPr lang="ru-BY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Arial"/>
                          <a:sym typeface="Arial"/>
                        </a:rPr>
                        <a:t>7. housing - наличие ипотеки</a:t>
                      </a:r>
                    </a:p>
                    <a:p>
                      <a:pPr algn="l"/>
                      <a:r>
                        <a:rPr lang="ru-BY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Arial"/>
                          <a:sym typeface="Arial"/>
                        </a:rPr>
                        <a:t>8. loan - наличие персонального кредита</a:t>
                      </a:r>
                    </a:p>
                    <a:p>
                      <a:pPr algn="l"/>
                      <a:r>
                        <a:rPr lang="ru-BY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Arial"/>
                          <a:sym typeface="Arial"/>
                        </a:rPr>
                        <a:t>9. contact - канал связи</a:t>
                      </a:r>
                    </a:p>
                    <a:p>
                      <a:pPr algn="l"/>
                      <a:r>
                        <a:rPr lang="ru-BY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Arial"/>
                          <a:sym typeface="Arial"/>
                        </a:rPr>
                        <a:t>10. day - день месяца последнего контакта</a:t>
                      </a:r>
                    </a:p>
                    <a:p>
                      <a:pPr algn="l"/>
                      <a:r>
                        <a:rPr lang="ru-BY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Arial"/>
                          <a:sym typeface="Arial"/>
                        </a:rPr>
                        <a:t>11. month - месяц последнего контакта</a:t>
                      </a:r>
                    </a:p>
                    <a:p>
                      <a:pPr algn="l"/>
                      <a:r>
                        <a:rPr lang="ru-BY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Arial"/>
                          <a:sym typeface="Arial"/>
                        </a:rPr>
                        <a:t>12. duration - длительность последнего звонка в секундах</a:t>
                      </a:r>
                    </a:p>
                    <a:p>
                      <a:pPr algn="l"/>
                      <a:r>
                        <a:rPr lang="ru-BY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Arial"/>
                          <a:sym typeface="Arial"/>
                        </a:rPr>
                        <a:t>13. campaign - число контактов с клиентом в текущей кампании</a:t>
                      </a:r>
                    </a:p>
                    <a:p>
                      <a:pPr algn="l"/>
                      <a:r>
                        <a:rPr lang="ru-BY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Arial"/>
                          <a:sym typeface="Arial"/>
                        </a:rPr>
                        <a:t>14. pdays - число дней с момента прошлого контакта</a:t>
                      </a:r>
                    </a:p>
                    <a:p>
                      <a:pPr algn="l"/>
                      <a:r>
                        <a:rPr lang="ru-BY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Arial"/>
                          <a:sym typeface="Arial"/>
                        </a:rPr>
                        <a:t>15. previous - число контактов с клиентом до текущей кампании</a:t>
                      </a:r>
                    </a:p>
                    <a:p>
                      <a:pPr algn="l"/>
                      <a:r>
                        <a:rPr lang="ru-BY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Arial"/>
                          <a:sym typeface="Arial"/>
                        </a:rPr>
                        <a:t>16. poutcome - исход предыдущей кампании</a:t>
                      </a:r>
                    </a:p>
                    <a:p>
                      <a:pPr algn="l"/>
                      <a:r>
                        <a:rPr lang="ru-BY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Arial"/>
                          <a:sym typeface="Arial"/>
                        </a:rPr>
                        <a:t>17. </a:t>
                      </a:r>
                      <a:r>
                        <a:rPr lang="en-US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Arial"/>
                          <a:sym typeface="Arial"/>
                        </a:rPr>
                        <a:t>y – </a:t>
                      </a:r>
                      <a:r>
                        <a:rPr lang="ru-RU" sz="12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Arial"/>
                          <a:cs typeface="Arial"/>
                          <a:sym typeface="Arial"/>
                        </a:rPr>
                        <a:t>итоговое решение клиента о подключении срочного вклада</a:t>
                      </a:r>
                      <a:endParaRPr lang="ru-BY" sz="1200" b="0" i="0" u="none" strike="noStrike" cap="none" dirty="0">
                        <a:solidFill>
                          <a:srgbClr val="000000"/>
                        </a:solidFill>
                        <a:effectLst/>
                        <a:latin typeface="+mn-lt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5515">
                <a:tc>
                  <a:txBody>
                    <a:bodyPr/>
                    <a:lstStyle/>
                    <a:p>
                      <a:pPr algn="l">
                        <a:lnSpc>
                          <a:spcPts val="1350"/>
                        </a:lnSpc>
                        <a:buNone/>
                      </a:pPr>
                      <a:endParaRPr lang="ru-BY" sz="800" b="0">
                        <a:solidFill>
                          <a:srgbClr val="E4E4E4"/>
                        </a:solidFill>
                        <a:effectLst/>
                        <a:latin typeface="Menlo" panose="020B0609030804020204" pitchFamily="49" charset="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50"/>
                        </a:lnSpc>
                        <a:buNone/>
                      </a:pPr>
                      <a:endParaRPr lang="ru-BY" sz="800" b="0" dirty="0">
                        <a:solidFill>
                          <a:srgbClr val="E4E4E4"/>
                        </a:solidFill>
                        <a:effectLst/>
                        <a:latin typeface="Menlo" panose="020B0609030804020204" pitchFamily="49" charset="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5515">
                <a:tc>
                  <a:txBody>
                    <a:bodyPr/>
                    <a:lstStyle/>
                    <a:p>
                      <a:pPr algn="l">
                        <a:lnSpc>
                          <a:spcPts val="1350"/>
                        </a:lnSpc>
                        <a:buNone/>
                      </a:pPr>
                      <a:endParaRPr lang="ru-BY" sz="800" b="0">
                        <a:solidFill>
                          <a:srgbClr val="E4E4E4"/>
                        </a:solidFill>
                        <a:effectLst/>
                        <a:latin typeface="Menlo" panose="020B0609030804020204" pitchFamily="49" charset="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50"/>
                        </a:lnSpc>
                        <a:buNone/>
                      </a:pPr>
                      <a:endParaRPr lang="ru-BY" sz="800" b="0" dirty="0">
                        <a:solidFill>
                          <a:srgbClr val="E4E4E4"/>
                        </a:solidFill>
                        <a:effectLst/>
                        <a:latin typeface="Menlo" panose="020B0609030804020204" pitchFamily="49" charset="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5515">
                <a:tc>
                  <a:txBody>
                    <a:bodyPr/>
                    <a:lstStyle/>
                    <a:p>
                      <a:pPr algn="l">
                        <a:lnSpc>
                          <a:spcPts val="1350"/>
                        </a:lnSpc>
                        <a:buNone/>
                      </a:pPr>
                      <a:endParaRPr lang="ru-BY" sz="800" b="0">
                        <a:solidFill>
                          <a:srgbClr val="E4E4E4"/>
                        </a:solidFill>
                        <a:effectLst/>
                        <a:latin typeface="Menlo" panose="020B0609030804020204" pitchFamily="49" charset="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50"/>
                        </a:lnSpc>
                        <a:buNone/>
                      </a:pPr>
                      <a:endParaRPr lang="ru-BY" sz="800" b="0" dirty="0">
                        <a:solidFill>
                          <a:srgbClr val="E4E4E4"/>
                        </a:solidFill>
                        <a:effectLst/>
                        <a:latin typeface="Menlo" panose="020B0609030804020204" pitchFamily="49" charset="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623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80D6CAD-92C0-3AC6-9B0F-2B0A5A5232F7}"/>
              </a:ext>
            </a:extLst>
          </p:cNvPr>
          <p:cNvSpPr txBox="1"/>
          <p:nvPr/>
        </p:nvSpPr>
        <p:spPr>
          <a:xfrm>
            <a:off x="500550" y="878674"/>
            <a:ext cx="754399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BY" sz="1600" b="1" i="0" dirty="0">
                <a:effectLst/>
                <a:latin typeface="+mj-lt"/>
              </a:rPr>
              <a:t>Источник:</a:t>
            </a:r>
            <a:r>
              <a:rPr lang="ru-BY" sz="1600" b="0" i="0" dirty="0">
                <a:effectLst/>
                <a:latin typeface="+mj-lt"/>
              </a:rPr>
              <a:t> телефонные маркетинговые кампании португальского банка</a:t>
            </a:r>
            <a:endParaRPr lang="ru-BY" sz="3200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02C552-586D-7600-F7F3-2F6CCEA7BBB8}"/>
              </a:ext>
            </a:extLst>
          </p:cNvPr>
          <p:cNvSpPr txBox="1"/>
          <p:nvPr/>
        </p:nvSpPr>
        <p:spPr>
          <a:xfrm>
            <a:off x="5470178" y="1986974"/>
            <a:ext cx="3550972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BY" b="1" dirty="0"/>
              <a:t>Общий объем данных: </a:t>
            </a:r>
            <a:r>
              <a:rPr lang="ru-BY" dirty="0"/>
              <a:t>45 211 записей</a:t>
            </a:r>
          </a:p>
          <a:p>
            <a:r>
              <a:rPr lang="ru-BY" b="1" dirty="0"/>
              <a:t>Период:</a:t>
            </a:r>
            <a:r>
              <a:rPr lang="ru-BY" dirty="0"/>
              <a:t> </a:t>
            </a:r>
            <a:r>
              <a:rPr lang="ru-RU" dirty="0"/>
              <a:t>м</a:t>
            </a:r>
            <a:r>
              <a:rPr lang="ru-BY" dirty="0"/>
              <a:t>ай 2008 – ноябрь 2010</a:t>
            </a:r>
          </a:p>
          <a:p>
            <a:pPr algn="ctr"/>
            <a:endParaRPr lang="ru-BY" dirty="0"/>
          </a:p>
          <a:p>
            <a:r>
              <a:rPr lang="ru-BY" dirty="0"/>
              <a:t>Данные упорядочены по дате звонка</a:t>
            </a:r>
          </a:p>
          <a:p>
            <a:endParaRPr lang="ru-BY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Подготовка данных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783DDFE-7A31-D96A-09E2-24F39E74234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8822"/>
          <a:stretch>
            <a:fillRect/>
          </a:stretch>
        </p:blipFill>
        <p:spPr>
          <a:xfrm>
            <a:off x="4811116" y="1327757"/>
            <a:ext cx="4220079" cy="29708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0F9C780-D32E-0282-C66B-064098306BED}"/>
              </a:ext>
            </a:extLst>
          </p:cNvPr>
          <p:cNvSpPr txBox="1"/>
          <p:nvPr/>
        </p:nvSpPr>
        <p:spPr>
          <a:xfrm>
            <a:off x="500550" y="1426622"/>
            <a:ext cx="4300521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ru-BY" dirty="0"/>
              <a:t>Проверка на пропуски - пропусков нет</a:t>
            </a:r>
          </a:p>
          <a:p>
            <a:pPr marL="342900" indent="-342900">
              <a:buAutoNum type="arabicPeriod"/>
            </a:pPr>
            <a:r>
              <a:rPr lang="ru-BY" dirty="0"/>
              <a:t>Дубликатов нет</a:t>
            </a:r>
          </a:p>
          <a:p>
            <a:pPr marL="342900" indent="-342900">
              <a:buAutoNum type="arabicPeriod"/>
            </a:pPr>
            <a:r>
              <a:rPr lang="ru-BY" dirty="0"/>
              <a:t>Удален признак </a:t>
            </a:r>
            <a:r>
              <a:rPr lang="en-US" dirty="0"/>
              <a:t>duration </a:t>
            </a:r>
            <a:r>
              <a:rPr lang="ru-BY" dirty="0"/>
              <a:t>– длительность звонка известна только после окончания разговора </a:t>
            </a:r>
          </a:p>
          <a:p>
            <a:pPr marL="342900" indent="-342900">
              <a:buAutoNum type="arabicPeriod"/>
            </a:pPr>
            <a:r>
              <a:rPr lang="ru-BY" dirty="0"/>
              <a:t>Добавлен признак was_contacted_before</a:t>
            </a:r>
            <a:br>
              <a:rPr lang="ru-BY" dirty="0"/>
            </a:br>
            <a:r>
              <a:rPr lang="ru-BY" dirty="0"/>
              <a:t>(pdays ≠ -1); для pdays значение -1 заменено на 0</a:t>
            </a:r>
          </a:p>
          <a:p>
            <a:pPr marL="342900" indent="-342900">
              <a:buAutoNum type="arabicPeriod"/>
            </a:pPr>
            <a:r>
              <a:rPr lang="ru-BY" dirty="0"/>
              <a:t>Целевая переменная переведена в бинарный вид: yes → 1, no → 0</a:t>
            </a:r>
          </a:p>
          <a:p>
            <a:pPr marL="342900" indent="-342900">
              <a:buAutoNum type="arabicPeriod"/>
            </a:pPr>
            <a:endParaRPr lang="ru-BY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A4C5C0-41A6-9AA9-12EF-38810B57A171}"/>
              </a:ext>
            </a:extLst>
          </p:cNvPr>
          <p:cNvSpPr txBox="1"/>
          <p:nvPr/>
        </p:nvSpPr>
        <p:spPr>
          <a:xfrm>
            <a:off x="1724105" y="4319820"/>
            <a:ext cx="56957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BY" dirty="0"/>
              <a:t>Доля согласий на открытие вклада в общем пуле данных – 11.7%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49518F-8283-0016-9916-5D52B5116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692533"/>
          </a:xfrm>
        </p:spPr>
        <p:txBody>
          <a:bodyPr/>
          <a:lstStyle/>
          <a:p>
            <a:r>
              <a:rPr lang="ru-BY" dirty="0"/>
              <a:t>Выбор метрики и параметров подготовки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84068E9-223C-0195-C38C-47DA3A15F5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BY" sz="1800" dirty="0"/>
              <a:t>Так как классы несбалансированы (ответ </a:t>
            </a:r>
            <a:r>
              <a:rPr lang="en-US" sz="1800" dirty="0"/>
              <a:t>“yes” </a:t>
            </a:r>
            <a:r>
              <a:rPr lang="ru-BY" sz="1800" dirty="0"/>
              <a:t>более важен для итоговой цели, но его общий процент небольшой) выбрана метрика PR-AUC</a:t>
            </a:r>
          </a:p>
          <a:p>
            <a:r>
              <a:rPr lang="ru-BY" sz="1800" dirty="0"/>
              <a:t>Accuracy</a:t>
            </a:r>
            <a:r>
              <a:rPr lang="ru-BY" sz="1800" b="1" dirty="0"/>
              <a:t> </a:t>
            </a:r>
            <a:r>
              <a:rPr lang="ru-BY" sz="1800" dirty="0"/>
              <a:t>даст 88% </a:t>
            </a:r>
            <a:r>
              <a:rPr lang="ru-RU" sz="1800" dirty="0"/>
              <a:t>верных ответов по </a:t>
            </a:r>
            <a:r>
              <a:rPr lang="en-US" sz="1800" dirty="0"/>
              <a:t>“no” </a:t>
            </a:r>
            <a:r>
              <a:rPr lang="ru-RU" sz="1800" dirty="0"/>
              <a:t>и будет бесполезна, так как нас интересуют клиенты которые согласятся на вклад.</a:t>
            </a:r>
            <a:endParaRPr lang="en-US" sz="1800" dirty="0"/>
          </a:p>
          <a:p>
            <a:r>
              <a:rPr lang="ru-BY" sz="1800" dirty="0"/>
              <a:t>Precision, recall и F1 зависят от выбранного порога вероятности</a:t>
            </a:r>
            <a:r>
              <a:rPr lang="ru-RU" sz="1800" dirty="0"/>
              <a:t>, при пороге 0,5 модель найдет много согласий, но будет много ложных согласий, а если порог повысить то будут пропущены клиенты, которые могли бы согласиться в теории.</a:t>
            </a:r>
            <a:endParaRPr lang="ru-BY" sz="1800" dirty="0"/>
          </a:p>
          <a:p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25024877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C8694F-BB3C-0C29-C380-0B9C0566E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BY" b="0" dirty="0"/>
              <a:t>Выбор скейлера</a:t>
            </a:r>
            <a:endParaRPr lang="ru-BY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52FFB82-F0E7-07A0-228B-06288EE4B8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3350" indent="0">
              <a:buNone/>
            </a:pPr>
            <a:r>
              <a:rPr lang="ru-BY" dirty="0"/>
              <a:t>Сравнивались StandardScaler и RobustScaler на проверочной выборке по PR-AUC.</a:t>
            </a:r>
            <a:br>
              <a:rPr lang="ru-BY" dirty="0"/>
            </a:br>
            <a:r>
              <a:rPr lang="ru-BY" dirty="0"/>
              <a:t>RobustScaler проверялся из‑за выбросов у полей balance, campaign и previous.</a:t>
            </a:r>
            <a:br>
              <a:rPr lang="ru-BY" dirty="0"/>
            </a:br>
            <a:endParaRPr lang="ru-BY" dirty="0"/>
          </a:p>
          <a:p>
            <a:pPr marL="133350" indent="0">
              <a:buNone/>
            </a:pPr>
            <a:r>
              <a:rPr lang="ru-BY" dirty="0"/>
              <a:t>Лучший вариант — </a:t>
            </a:r>
            <a:r>
              <a:rPr lang="ru-BY" b="1" dirty="0"/>
              <a:t>StandardScaler + was_contacted_before</a:t>
            </a:r>
            <a:endParaRPr lang="ru-BY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DCE1913-01D2-767F-2BB0-7AFBFA9D98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0550" y="3012027"/>
            <a:ext cx="4800600" cy="140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2743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DC1EFA-7DAA-82F3-7D5D-95B5BB3BD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82D0B97-BB46-1DB4-C3B0-AECA60F3BD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41482193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/>
              <a:t>Выводы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213" name="Google Shape;213;p42"/>
          <p:cNvGraphicFramePr/>
          <p:nvPr/>
        </p:nvGraphicFramePr>
        <p:xfrm>
          <a:off x="952500" y="1718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{89122108-2A36-42DF-A35F-760401D71D52}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214" name="Google Shape;214;p42"/>
          <p:cNvGrpSpPr/>
          <p:nvPr/>
        </p:nvGrpSpPr>
        <p:grpSpPr>
          <a:xfrm>
            <a:off x="3633259" y="1248968"/>
            <a:ext cx="5534664" cy="2335504"/>
            <a:chOff x="4729635" y="887067"/>
            <a:chExt cx="3375207" cy="1399343"/>
          </a:xfrm>
        </p:grpSpPr>
        <p:pic>
          <p:nvPicPr>
            <p:cNvPr id="215" name="Google Shape;215;p42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729635" y="887067"/>
              <a:ext cx="3375207" cy="1399343"/>
            </a:xfrm>
            <a:prstGeom prst="rect">
              <a:avLst/>
            </a:prstGeom>
            <a:noFill/>
            <a:ln>
              <a:noFill/>
            </a:ln>
            <a:effectLst>
              <a:outerShdw blurRad="200025" dist="28575" dir="4200000" algn="bl" rotWithShape="0">
                <a:srgbClr val="000000">
                  <a:alpha val="30000"/>
                </a:srgbClr>
              </a:outerShdw>
            </a:effectLst>
          </p:spPr>
        </p:pic>
        <p:sp>
          <p:nvSpPr>
            <p:cNvPr id="216" name="Google Shape;216;p42"/>
            <p:cNvSpPr txBox="1"/>
            <p:nvPr/>
          </p:nvSpPr>
          <p:spPr>
            <a:xfrm>
              <a:off x="5208319" y="1064138"/>
              <a:ext cx="2869500" cy="1023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ru" sz="1100" b="1">
                  <a:solidFill>
                    <a:schemeClr val="dk1"/>
                  </a:solidFill>
                </a:rPr>
                <a:t>Оцените работу над проектом и ответьте на вопросы:</a:t>
              </a:r>
              <a:endParaRPr sz="1100" b="1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>
                  <a:solidFill>
                    <a:schemeClr val="dk1"/>
                  </a:solidFill>
                </a:rPr>
                <a:t>У вас получилось достичь цели и выполнить все задачи?</a:t>
              </a:r>
              <a:endParaRPr sz="110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>
                  <a:solidFill>
                    <a:schemeClr val="dk1"/>
                  </a:solidFill>
                </a:rPr>
                <a:t>Что далось легко, а с чем возникли трудности?</a:t>
              </a:r>
              <a:endParaRPr sz="110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>
                  <a:solidFill>
                    <a:schemeClr val="dk1"/>
                  </a:solidFill>
                </a:rPr>
                <a:t>Сколько времени занял проект?</a:t>
              </a:r>
              <a:endParaRPr sz="110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>
                  <a:solidFill>
                    <a:schemeClr val="dk1"/>
                  </a:solidFill>
                </a:rPr>
                <a:t>Насколько полезным оказался для вас проект от 1 до 10?</a:t>
              </a:r>
              <a:endParaRPr sz="1100">
                <a:solidFill>
                  <a:schemeClr val="dk1"/>
                </a:solidFill>
              </a:endParaRPr>
            </a:p>
            <a:p>
              <a:pPr marL="914400" lvl="1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lphaLcPeriod"/>
              </a:pPr>
              <a:r>
                <a:rPr lang="ru" sz="1100">
                  <a:solidFill>
                    <a:schemeClr val="dk1"/>
                  </a:solidFill>
                </a:rPr>
                <a:t>1 = я не научился ничему новому</a:t>
              </a:r>
              <a:endParaRPr sz="1100">
                <a:solidFill>
                  <a:schemeClr val="dk1"/>
                </a:solidFill>
              </a:endParaRPr>
            </a:p>
            <a:p>
              <a:pPr marL="914400" lvl="1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lphaLcPeriod"/>
              </a:pPr>
              <a:r>
                <a:rPr lang="ru" sz="1100">
                  <a:solidFill>
                    <a:schemeClr val="dk1"/>
                  </a:solidFill>
                </a:rPr>
                <a:t>10 = очень полезно, я получил новый опыт</a:t>
              </a:r>
              <a:endParaRPr sz="110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>
                  <a:solidFill>
                    <a:schemeClr val="dk1"/>
                  </a:solidFill>
                </a:rPr>
                <a:t>Остались ли у вас вопросы по проекту?</a:t>
              </a:r>
              <a:endParaRPr sz="110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>
                  <a:solidFill>
                    <a:schemeClr val="dk1"/>
                  </a:solidFill>
                </a:rPr>
                <a:t>Как вы планируете развиваться дальше?</a:t>
              </a: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>
                <a:solidFill>
                  <a:schemeClr val="lt1"/>
                </a:solidFill>
              </a:rPr>
              <a:t>Спасибо за внимание!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586</Words>
  <Application>Microsoft Macintosh PowerPoint</Application>
  <PresentationFormat>Экран (16:9)</PresentationFormat>
  <Paragraphs>66</Paragraphs>
  <Slides>10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10</vt:i4>
      </vt:variant>
    </vt:vector>
  </HeadingPairs>
  <TitlesOfParts>
    <vt:vector size="17" baseType="lpstr">
      <vt:lpstr>Courier New</vt:lpstr>
      <vt:lpstr>Roboto</vt:lpstr>
      <vt:lpstr>Menlo</vt:lpstr>
      <vt:lpstr>Roboto Medium</vt:lpstr>
      <vt:lpstr>Arial</vt:lpstr>
      <vt:lpstr>Светлая тема</vt:lpstr>
      <vt:lpstr>Светлая тема</vt:lpstr>
      <vt:lpstr>Презентация PowerPoint</vt:lpstr>
      <vt:lpstr>О себе </vt:lpstr>
      <vt:lpstr>Презентация PowerPoint</vt:lpstr>
      <vt:lpstr>Изначальные данные </vt:lpstr>
      <vt:lpstr>Подготовка данных</vt:lpstr>
      <vt:lpstr>Выбор метрики и параметров подготовки</vt:lpstr>
      <vt:lpstr>Выбор скейлера</vt:lpstr>
      <vt:lpstr>Презентация PowerPoint</vt:lpstr>
      <vt:lpstr>Выводы 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Polina Puhova</cp:lastModifiedBy>
  <cp:revision>2</cp:revision>
  <dcterms:modified xsi:type="dcterms:W3CDTF">2026-07-17T14:21:35Z</dcterms:modified>
</cp:coreProperties>
</file>